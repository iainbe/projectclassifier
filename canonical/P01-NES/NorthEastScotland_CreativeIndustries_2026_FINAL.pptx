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4" r:id="rId12"/>
    <p:sldId id="263" r:id="rId13"/>
    <p:sldId id="264" r:id="rId14"/>
    <p:sldId id="265" r:id="rId15"/>
    <p:sldId id="272" r:id="rId16"/>
    <p:sldId id="266" r:id="rId17"/>
    <p:sldId id="267" r:id="rId18"/>
    <p:sldId id="273" r:id="rId19"/>
    <p:sldId id="268" r:id="rId20"/>
    <p:sldId id="269" r:id="rId21"/>
    <p:sldId id="270" r:id="rId22"/>
    <p:sldId id="271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ADC"/>
    <a:srgbClr val="E25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47"/>
    <p:restoredTop sz="94658"/>
  </p:normalViewPr>
  <p:slideViewPr>
    <p:cSldViewPr snapToGrid="0" snapToObjects="1">
      <p:cViewPr varScale="1">
        <p:scale>
          <a:sx n="155" d="100"/>
          <a:sy n="155" d="100"/>
        </p:scale>
        <p:origin x="20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Bennett" userId="f134786e-6f18-439c-abf2-ba765b9583d0" providerId="ADAL" clId="{4098A44A-CC19-5222-A800-C0E1D1DAF746}"/>
    <pc:docChg chg="modSld">
      <pc:chgData name="Iain Bennett" userId="f134786e-6f18-439c-abf2-ba765b9583d0" providerId="ADAL" clId="{4098A44A-CC19-5222-A800-C0E1D1DAF746}" dt="2026-06-05T15:22:43.429" v="1" actId="27107"/>
      <pc:docMkLst>
        <pc:docMk/>
      </pc:docMkLst>
      <pc:sldChg chg="modSp mod">
        <pc:chgData name="Iain Bennett" userId="f134786e-6f18-439c-abf2-ba765b9583d0" providerId="ADAL" clId="{4098A44A-CC19-5222-A800-C0E1D1DAF746}" dt="2026-06-05T15:22:34.499" v="0" actId="27107"/>
        <pc:sldMkLst>
          <pc:docMk/>
          <pc:sldMk cId="0" sldId="256"/>
        </pc:sldMkLst>
        <pc:spChg chg="mod">
          <ac:chgData name="Iain Bennett" userId="f134786e-6f18-439c-abf2-ba765b9583d0" providerId="ADAL" clId="{4098A44A-CC19-5222-A800-C0E1D1DAF746}" dt="2026-06-05T15:22:34.499" v="0" actId="271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Iain Bennett" userId="f134786e-6f18-439c-abf2-ba765b9583d0" providerId="ADAL" clId="{4098A44A-CC19-5222-A800-C0E1D1DAF746}" dt="2026-06-05T15:22:43.429" v="1" actId="27107"/>
        <pc:sldMkLst>
          <pc:docMk/>
          <pc:sldMk cId="0" sldId="257"/>
        </pc:sldMkLst>
        <pc:spChg chg="mod">
          <ac:chgData name="Iain Bennett" userId="f134786e-6f18-439c-abf2-ba765b9583d0" providerId="ADAL" clId="{4098A44A-CC19-5222-A800-C0E1D1DAF746}" dt="2026-06-05T15:22:43.429" v="1" actId="27107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E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57400"/>
            <a:ext cx="9144000" cy="36576"/>
          </a:xfrm>
          <a:prstGeom prst="rect">
            <a:avLst/>
          </a:prstGeom>
          <a:solidFill>
            <a:srgbClr val="E25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600" b="1" i="0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North East Scotland  ·  creative economy research  · 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1554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400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 creative economy</a:t>
            </a:r>
            <a:r>
              <a:rPr lang="en-GB" sz="400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</a:t>
            </a:r>
            <a:r>
              <a:rPr sz="400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worth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12848"/>
            <a:ext cx="6400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Scale, structure and strategic opportunity
in the creative economy of Aberdeen and Aberdeenshire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56" b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Commissioned by  Aberdeen City Council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56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Research by  The Fifth Sector  |  Unscrambled.world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Calibri"/>
              </a:rPr>
              <a:t>Section 1 · Measurement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800" b="1" i="0" dirty="0">
                <a:solidFill>
                  <a:srgbClr val="1C6E6A"/>
                </a:solidFill>
                <a:latin typeface="Calibri"/>
              </a:rPr>
              <a:t>Standard measures miss most of this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70432"/>
            <a:ext cx="4572000" cy="3520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National statistics count employment in registered businesses only.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Applied to </a:t>
            </a:r>
            <a:r>
              <a:rPr lang="en-GB" sz="1200" b="0" noProof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North East </a:t>
            </a:r>
            <a:r>
              <a:rPr sz="12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Scotland, that approach produces a count of 4,690 workers in 2024 – including up to 1,600 generic IT consultants with no creative-digital activity.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In a sector where over 90% of firms employ fewer than ten people and more than a third of practitioners are freelance, the exclusion of self-employed workers is a structural flaw in the measurement, not a small rounding error.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This research works across three layers of evidence to find the workers, firms and value that official statistics miss.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1170432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lnSpc>
                <a:spcPct val="120000"/>
              </a:lnSpc>
            </a:pPr>
            <a:r>
              <a:rPr sz="1638" b="1" i="0">
                <a:solidFill>
                  <a:srgbClr val="6E665C"/>
                </a:solidFill>
                <a:latin typeface="Franklin Gothic Medium" panose="020B0603020102020204" pitchFamily="34" charset="0"/>
              </a:rPr>
              <a:t>The official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1508760"/>
            <a:ext cx="3657600" cy="960120"/>
          </a:xfrm>
          <a:prstGeom prst="rect">
            <a:avLst/>
          </a:prstGeom>
          <a:solidFill>
            <a:srgbClr val="6E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6360" y="1556766"/>
            <a:ext cx="3657600" cy="528066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4,690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084831"/>
            <a:ext cx="3657600" cy="345643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GB" sz="1523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Employees</a:t>
            </a:r>
            <a:r>
              <a:rPr sz="1523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– standard
</a:t>
            </a:r>
            <a:r>
              <a:rPr lang="en-GB" sz="1523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DCMS</a:t>
            </a:r>
            <a:r>
              <a:rPr sz="1523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3232404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lnSpc>
                <a:spcPct val="120000"/>
              </a:lnSpc>
            </a:pPr>
            <a:r>
              <a:rPr sz="1638" b="1" i="0">
                <a:solidFill>
                  <a:srgbClr val="1C6E6A"/>
                </a:solidFill>
                <a:latin typeface="Franklin Gothic Medium" panose="020B0603020102020204" pitchFamily="34" charset="0"/>
              </a:rPr>
              <a:t>This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3579876"/>
            <a:ext cx="3657600" cy="96012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6360" y="3627882"/>
            <a:ext cx="3657600" cy="528066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10,490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4155948"/>
            <a:ext cx="3657600" cy="345643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GB" sz="1523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Creative</a:t>
            </a:r>
            <a:r>
              <a:rPr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</a:t>
            </a:r>
            <a:r>
              <a:rPr lang="en-GB"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workforce</a:t>
            </a:r>
            <a:r>
              <a:rPr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identified
across four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76906"/>
            <a:ext cx="22860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b="1" i="0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↓   2.2× larger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96028"/>
            <a:ext cx="84124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1" dirty="0">
                <a:solidFill>
                  <a:srgbClr val="6E665C"/>
                </a:solidFill>
                <a:latin typeface="Calibri"/>
              </a:rPr>
              <a:t>Source: BRES 2024; The Fifth Sector (2026) four-tier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Calibri"/>
              </a:rPr>
              <a:t>Section 1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C6E6A"/>
                </a:solidFill>
                <a:latin typeface="Calibri"/>
              </a:rPr>
              <a:t>Three evidence layers, one complete picture</a:t>
            </a:r>
          </a:p>
        </p:txBody>
      </p:sp>
      <p:pic>
        <p:nvPicPr>
          <p:cNvPr id="4" name="Picture 3" descr="fig01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05840"/>
            <a:ext cx="576072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>
                <a:solidFill>
                  <a:srgbClr val="6E665C"/>
                </a:solidFill>
                <a:latin typeface="Calibri"/>
              </a:rPr>
              <a:t>Data analysis triangulation. Source: The Fifth Sector (2026).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E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2 · Scale and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76072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The combined picture is substantially larger
than any previous account of this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99666"/>
            <a:ext cx="2377440" cy="1097280"/>
          </a:xfrm>
          <a:prstGeom prst="rect">
            <a:avLst/>
          </a:prstGeom>
          <a:solidFill>
            <a:srgbClr val="14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2377440" cy="603504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10,490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58034"/>
            <a:ext cx="2377440" cy="3950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lang="en-GB" sz="100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Creative</a:t>
            </a:r>
            <a:r>
              <a:rPr sz="100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workers
across four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99666"/>
            <a:ext cx="2377440" cy="109728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3280" y="1954530"/>
            <a:ext cx="2377440" cy="603504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£453m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58034"/>
            <a:ext cx="2377440" cy="39502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lang="en-GB" sz="100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Direct</a:t>
            </a:r>
            <a:r>
              <a:rPr sz="100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gross
value added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99666"/>
            <a:ext cx="2377440" cy="1097280"/>
          </a:xfrm>
          <a:prstGeom prst="rect">
            <a:avLst/>
          </a:prstGeom>
          <a:solidFill>
            <a:srgbClr val="4E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640" y="1954530"/>
            <a:ext cx="2377440" cy="603504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£675m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558034"/>
            <a:ext cx="2377440" cy="39502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20000"/>
              </a:lnSpc>
            </a:pPr>
            <a:r>
              <a:rPr lang="en-GB" sz="900" b="0" i="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Total</a:t>
            </a:r>
            <a:r>
              <a:rPr sz="900" b="0" i="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economic
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23844"/>
            <a:ext cx="813816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sz="1400" b="0" i="1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These figures are not visible in any current policy framework because the measurement tools previously applied were not designed to find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49548"/>
            <a:ext cx="81381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sz="1475" b="0" i="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985 registered businesses  ·  7,715 FTE  ·  £453m direct GVA  ·  Type II multiplier 1.51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Source: The Fifth Sector (2026). BRES, The Data City, LinkedIn Talent Insights and penetration gap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2 · Four-tier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C6E6A"/>
                </a:solidFill>
                <a:latin typeface="Calibri"/>
              </a:rPr>
              <a:t>A creative economy in four tiers, not one sector</a:t>
            </a:r>
          </a:p>
        </p:txBody>
      </p:sp>
      <p:pic>
        <p:nvPicPr>
          <p:cNvPr id="4" name="Picture 3" descr="fig02_four_ti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27" y="1005841"/>
            <a:ext cx="5419898" cy="3726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Source: The Fifth Sector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2 · Four-tier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C6E6A"/>
                </a:solidFill>
                <a:latin typeface="Franklin Gothic Medium" panose="020B0603020102020204" pitchFamily="34" charset="0"/>
              </a:rPr>
              <a:t>The tiers are interdependent – and some connections are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200400" cy="3520440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38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Established connections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Tier 1 commissions from Tier 2; Tier 2 passes project work to Tier 3 freelancers; Tier 4 supplies cultural content inward through Tiers 1 and 2.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638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38" b="1" dirty="0">
                <a:solidFill>
                  <a:srgbClr val="B23A2E"/>
                </a:solidFill>
                <a:latin typeface="Franklin Gothic Medium" panose="020B0603020102020204" pitchFamily="34" charset="0"/>
              </a:rPr>
              <a:t>The structural gap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Adjacent technical firms (Group B) </a:t>
            </a:r>
            <a:r>
              <a:rPr lang="en-GB"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-</a:t>
            </a: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 with engineering-grade simulation skills </a:t>
            </a:r>
            <a:r>
              <a:rPr lang="en-GB"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-</a:t>
            </a: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 have no connection with city-</a:t>
            </a:r>
            <a:r>
              <a:rPr sz="1638" b="0" dirty="0" err="1">
                <a:solidFill>
                  <a:srgbClr val="22201E"/>
                </a:solidFill>
                <a:latin typeface="Franklin Gothic Medium" panose="020B0603020102020204" pitchFamily="34" charset="0"/>
              </a:rPr>
              <a:t>centre</a:t>
            </a: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 creative agencies. Each holds what the other needs.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638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20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This separation </a:t>
            </a:r>
            <a:r>
              <a:rPr lang="en-GB" sz="1720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points to a convergence opportunity</a:t>
            </a:r>
            <a:endParaRPr sz="1720" b="1" dirty="0">
              <a:solidFill>
                <a:srgbClr val="1C6E6A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5" name="Picture 4" descr="fig03_tier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268730"/>
            <a:ext cx="5212080" cy="3387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Connections between the tiers. Dashed lines indicate weak or absent connections. Source: The Fifth Sector (2026)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2 · Economic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Tier 2 generates the </a:t>
            </a:r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greatest impact,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 but all four tiers contribute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70432"/>
            <a:ext cx="2651760" cy="3566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Tier 2 SME core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£362m total impact </a:t>
            </a:r>
            <a:endParaRPr lang="en-GB" sz="160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GB" sz="1600" b="1" dirty="0">
              <a:solidFill>
                <a:srgbClr val="1C6E6A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Tier 3 freelancers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£244m total impact</a:t>
            </a:r>
            <a:endParaRPr lang="en-GB" sz="160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GB" sz="1600" b="1" dirty="0">
              <a:solidFill>
                <a:srgbClr val="4E9A95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 dirty="0">
                <a:solidFill>
                  <a:srgbClr val="4E9A95"/>
                </a:solidFill>
                <a:latin typeface="Franklin Gothic Medium" panose="020B0603020102020204" pitchFamily="34" charset="0"/>
              </a:rPr>
              <a:t>Tier 4 invisible workforce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£34m total impact </a:t>
            </a:r>
            <a:endParaRPr lang="en-GB" sz="160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endParaRPr lang="en-GB" sz="160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00" b="0" dirty="0">
                <a:solidFill>
                  <a:srgbClr val="E2573D"/>
                </a:solidFill>
                <a:latin typeface="Franklin Gothic Medium" panose="020B0603020102020204" pitchFamily="34" charset="0"/>
              </a:rPr>
              <a:t>BRES records </a:t>
            </a:r>
            <a:r>
              <a:rPr lang="en-GB" sz="1600" b="0" dirty="0">
                <a:solidFill>
                  <a:srgbClr val="E2573D"/>
                </a:solidFill>
                <a:latin typeface="Franklin Gothic Medium" panose="020B0603020102020204" pitchFamily="34" charset="0"/>
              </a:rPr>
              <a:t>Tier 3 and Tier 4 </a:t>
            </a:r>
            <a:r>
              <a:rPr sz="1600" b="0" dirty="0">
                <a:solidFill>
                  <a:srgbClr val="E2573D"/>
                </a:solidFill>
                <a:latin typeface="Franklin Gothic Medium" panose="020B0603020102020204" pitchFamily="34" charset="0"/>
              </a:rPr>
              <a:t>population as zero.</a:t>
            </a:r>
          </a:p>
        </p:txBody>
      </p:sp>
      <p:pic>
        <p:nvPicPr>
          <p:cNvPr id="5" name="Picture 4" descr="fig04_economic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46238"/>
            <a:ext cx="5943600" cy="3451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>
                <a:solidFill>
                  <a:srgbClr val="6E665C"/>
                </a:solidFill>
                <a:latin typeface="Franklin Gothic Medium" panose="020B0603020102020204" pitchFamily="34" charset="0"/>
              </a:rPr>
              <a:t>Total economic impact by tier. Source: The Fifth Sector (2026); ONS, DCMS and Scottish Government definitions.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2583E"/>
                </a:solidFill>
              </a:defRPr>
            </a:pPr>
            <a:r>
              <a:rPr sz="2800" dirty="0"/>
              <a:t>Group A and Group B: Convergence Opportunity</a:t>
            </a:r>
          </a:p>
        </p:txBody>
      </p:sp>
      <p:pic>
        <p:nvPicPr>
          <p:cNvPr id="3" name="Picture 2" descr="creative-firm-classification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5151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E665C"/>
                </a:solidFill>
              </a:defRPr>
            </a:pPr>
            <a:r>
              <a:t>Figure 2: Three populations of creative and adjacent firms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3 · Skills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Technically deep</a:t>
            </a:r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 but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 commercially constrained</a:t>
            </a:r>
          </a:p>
        </p:txBody>
      </p:sp>
      <p:pic>
        <p:nvPicPr>
          <p:cNvPr id="6" name="Picture 5" descr="fig06_skill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2184"/>
            <a:ext cx="7863840" cy="3044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759452"/>
            <a:ext cx="8412480" cy="2286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Skills position against Nottingham comparator. Source: LinkedIn / Unscrambled.world. NES base 219,256 profiles; Nottingham 357,597.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Calibri"/>
              </a:rPr>
              <a:t>Section 3 · Convergence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C6E6A"/>
                </a:solidFill>
                <a:latin typeface="Franklin Gothic Medium" panose="020B0603020102020204" pitchFamily="34" charset="0"/>
              </a:rPr>
              <a:t>Each half of this economy holds what the other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9665" y="1170432"/>
            <a:ext cx="4285735" cy="3587274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The skills gap is not between NE Scotland and other regions.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It is between parts of the same regional economy that have never had a mechanism for knowledge exchange.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endParaRPr sz="1638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1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~90 Group B firms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hold engineering-grade simulation depth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endParaRPr sz="1638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1" dirty="0">
                <a:solidFill>
                  <a:srgbClr val="14504D"/>
                </a:solidFill>
                <a:latin typeface="Franklin Gothic Medium" panose="020B0603020102020204" pitchFamily="34" charset="0"/>
              </a:rPr>
              <a:t>920 Tier 2 firms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8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hold narrative, design and production capability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endParaRPr sz="1638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20" b="1" dirty="0">
                <a:solidFill>
                  <a:srgbClr val="B23A2E"/>
                </a:solidFill>
                <a:latin typeface="Franklin Gothic Medium" panose="020B0603020102020204" pitchFamily="34" charset="0"/>
              </a:rPr>
              <a:t>Neither can reach the highest-value markets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ctr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North East Scotland against Nottingham, per-capita skills. Source: LinkedIn </a:t>
            </a:r>
            <a:r>
              <a:rPr lang="en-GB"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/ </a:t>
            </a: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Unscrambled.world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F9C6C7-2FC0-F99F-C019-DF7A1E0E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32481"/>
            <a:ext cx="4015754" cy="35872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3 ·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1C6E6A"/>
                </a:solidFill>
                <a:latin typeface="Calibri"/>
              </a:rPr>
              <a:t>Large and growing markets are waiting for this connection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2011680" cy="352044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8288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UK creative 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828800" cy="2697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0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£145.8bn GVA in 2024
4.6% growth vs 1.0% for UK economy
Fastest-growing sub-sector: IT &amp; software (+8.7%)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1234440"/>
            <a:ext cx="2011680" cy="352044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33472" y="1353312"/>
            <a:ext cx="18288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UK immersive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1874519"/>
            <a:ext cx="1828800" cy="2697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00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$1.35bn (2024) → $7.95bn (2033)
21.8% CAGR
NE Scotland simulation skills directly applicable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8304" y="1234440"/>
            <a:ext cx="2011680" cy="3520440"/>
          </a:xfrm>
          <a:prstGeom prst="rect">
            <a:avLst/>
          </a:prstGeom>
          <a:solidFill>
            <a:srgbClr val="2F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09744" y="1353312"/>
            <a:ext cx="1828800" cy="411480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UK wind power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874519"/>
            <a:ext cx="1828800" cy="2697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00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$39.3bn (2024) → $95.3bn (2032)
11.7% CAGR
Statutory community engagement requirements create demand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4576" y="1234440"/>
            <a:ext cx="2011680" cy="3520440"/>
          </a:xfrm>
          <a:prstGeom prst="rect">
            <a:avLst/>
          </a:prstGeom>
          <a:solidFill>
            <a:srgbClr val="E25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86016" y="1353312"/>
            <a:ext cx="18288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lnSpc>
                <a:spcPct val="105000"/>
              </a:lnSpc>
            </a:pPr>
            <a:r>
              <a:rPr lang="en-GB" sz="135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Creative Industries Sector Plan</a:t>
            </a:r>
            <a:endParaRPr sz="1350" b="1" i="0" dirty="0">
              <a:solidFill>
                <a:srgbClr val="FFFF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1874519"/>
            <a:ext cx="1828800" cy="2697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00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£100m UKRI Creative Clusters investment
CoSTAR satellite confirmation expected June 2026; CICP3 </a:t>
            </a:r>
            <a:r>
              <a:rPr lang="en-GB" sz="1200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funding </a:t>
            </a:r>
            <a:r>
              <a:rPr sz="1200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round 2027
NE Scotland is a credible applicant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>
                <a:solidFill>
                  <a:srgbClr val="6E665C"/>
                </a:solidFill>
                <a:latin typeface="Franklin Gothic Medium" panose="020B0603020102020204" pitchFamily="34" charset="0"/>
              </a:rPr>
              <a:t>Sources: DCMS (2024); Verified Market Research (2024); Mordor Intelligence (2025); IMARC Group (2024). Market projections are indicative order-of-magnitude context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3 · A London reference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7642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What converged capability becomes: a London comparator</a:t>
            </a:r>
          </a:p>
        </p:txBody>
      </p:sp>
      <p:pic>
        <p:nvPicPr>
          <p:cNvPr id="5" name="Picture 4" descr="capability-mirror_v3.png"/>
          <p:cNvPicPr>
            <a:picLocks noChangeAspect="1"/>
          </p:cNvPicPr>
          <p:nvPr/>
        </p:nvPicPr>
        <p:blipFill>
          <a:blip r:embed="rId2"/>
          <a:srcRect r="551" b="11355"/>
          <a:stretch>
            <a:fillRect/>
          </a:stretch>
        </p:blipFill>
        <p:spPr>
          <a:xfrm>
            <a:off x="1560443" y="1139457"/>
            <a:ext cx="5840075" cy="34864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46320"/>
            <a:ext cx="8412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Structural comparator from a parallel Fifth Sector study (</a:t>
            </a:r>
            <a:r>
              <a:rPr lang="en-GB" sz="900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LLDC/Loughborough Uni/UCL</a:t>
            </a:r>
            <a:r>
              <a:rPr sz="900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, 2026, draft); stronger signals only. Full provenance in report Appendix 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4 · Structural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C6E6A"/>
                </a:solidFill>
                <a:latin typeface="Calibri"/>
              </a:rPr>
              <a:t>32% retention: graduates leave because the opportunity is invisible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53312"/>
            <a:ext cx="2606040" cy="9601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401318"/>
            <a:ext cx="2606040" cy="528066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32%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9384"/>
            <a:ext cx="2606040" cy="345643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ctr">
              <a:lnSpc>
                <a:spcPct val="120000"/>
              </a:lnSpc>
            </a:pPr>
            <a:r>
              <a:rPr sz="90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combined creative
alumni retention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53312"/>
            <a:ext cx="2606040" cy="96012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46120" y="1401318"/>
            <a:ext cx="2606040" cy="528066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29384"/>
            <a:ext cx="2606040" cy="345643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ctr">
              <a:lnSpc>
                <a:spcPct val="120000"/>
              </a:lnSpc>
            </a:pPr>
            <a:r>
              <a:rPr sz="1523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RGU creative
alumni retained locally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53312"/>
            <a:ext cx="2606040" cy="960120"/>
          </a:xfrm>
          <a:prstGeom prst="rect">
            <a:avLst/>
          </a:prstGeom>
          <a:solidFill>
            <a:srgbClr val="14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0" y="1401318"/>
            <a:ext cx="2606040" cy="528066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29384"/>
            <a:ext cx="2606040" cy="345643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ctr">
              <a:lnSpc>
                <a:spcPct val="120000"/>
              </a:lnSpc>
            </a:pPr>
            <a:r>
              <a:rPr sz="1523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University of Aberdeen
creative alumni retained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2" b="1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This is not a quality failure. It is a structural one.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The explanation is absorptive capacity and invisibility. Graduates leave primarily for the Central Belt – Edinburgh and Glasgow take more than London. A larger creative economy, more visible entry-level roles and more obvious professional networks provide the pull.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72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Making the opportunity visible </a:t>
            </a:r>
            <a:r>
              <a:rPr lang="en-GB"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-</a:t>
            </a:r>
            <a:r>
              <a:rPr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 through connectivity (Strategy 1), the Creative Career Bridge (Strategy 3), and a consistent regional narrative (Strategy 4) </a:t>
            </a:r>
            <a:r>
              <a:rPr lang="en-GB"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-</a:t>
            </a:r>
            <a:r>
              <a:rPr sz="1720" b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 is the precondition for retention, not an optional complement to it.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720" b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38" b="1" dirty="0">
                <a:solidFill>
                  <a:srgbClr val="14504D"/>
                </a:solidFill>
                <a:latin typeface="Franklin Gothic Medium" panose="020B0603020102020204" pitchFamily="34" charset="0"/>
              </a:rPr>
              <a:t>"A graduate who can see three credible pathways has a reason to stay that is currently invisible to them at the point of graduation."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Source: LinkedIn / Unscrambled.world SOC Analysis. Mapped alumni from RGU and University of Aberdeen. See Part Five and Section 8.1.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4 · Structural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Sector networks 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run on borrowed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70432"/>
            <a:ext cx="2834640" cy="356616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GB" sz="1802" b="1" noProof="0" dirty="0">
                <a:solidFill>
                  <a:srgbClr val="B23A2E"/>
                </a:solidFill>
                <a:latin typeface="Franklin Gothic Medium" panose="020B0603020102020204" pitchFamily="34" charset="0"/>
              </a:rPr>
              <a:t>Organisational churn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GB" sz="1638" b="0" noProof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The repeated formation, operation and dissolution of connective creative infrastructure under time-limited funding.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GB" sz="1638" b="0" noProof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GB" sz="1638" b="1" noProof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Connective sector network organisations from the 2014 audit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GB" sz="1638" b="0" noProof="0" dirty="0">
                <a:solidFill>
                  <a:srgbClr val="22201E"/>
                </a:solidFill>
                <a:latin typeface="Franklin Gothic Medium" panose="020B0603020102020204" pitchFamily="34" charset="0"/>
              </a:rPr>
              <a:t>have closed without successors. Each cycle of short-term funding loses relationships and knowledge, eroding institutional memory.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GB" sz="1638" b="0" noProof="0" dirty="0">
              <a:solidFill>
                <a:srgbClr val="22201E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GB" sz="1720" b="1" noProof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The window to break the cycle is the next 12–24 months.</a:t>
            </a:r>
          </a:p>
        </p:txBody>
      </p:sp>
      <p:pic>
        <p:nvPicPr>
          <p:cNvPr id="5" name="Picture 4" descr="fig08_chur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868680"/>
            <a:ext cx="4608576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>
                <a:solidFill>
                  <a:srgbClr val="6E665C"/>
                </a:solidFill>
                <a:latin typeface="Franklin Gothic Medium" panose="020B0603020102020204" pitchFamily="34" charset="0"/>
              </a:rPr>
              <a:t>Cycles of short-term funding. Source: The Fifth Sector (2026). See Part Eight.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Theory of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Translating 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evidence </a:t>
            </a:r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into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 action</a:t>
            </a:r>
          </a:p>
        </p:txBody>
      </p:sp>
      <p:pic>
        <p:nvPicPr>
          <p:cNvPr id="5" name="Picture 4" descr="theory-of-change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2" y="1023730"/>
            <a:ext cx="7265923" cy="373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46320"/>
            <a:ext cx="8412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Each stage enables the next; Recommendation 2 (Joint Board) is the precondition. Source: The Fifth Sector (2026).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5 · Four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Four strategies, sequenced </a:t>
            </a:r>
            <a:r>
              <a:rPr lang="en-GB"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-</a:t>
            </a: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 each enabling the next</a:t>
            </a:r>
          </a:p>
        </p:txBody>
      </p:sp>
      <p:pic>
        <p:nvPicPr>
          <p:cNvPr id="4" name="Picture 3" descr="fig09_strateg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822960"/>
            <a:ext cx="69723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Strategies and recommendations: R2 (Joint Board) is the precondition for three of the five. Source: The Fifth Sector (2026).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en-GB" sz="1208" b="1" i="0" noProof="0" dirty="0">
                <a:solidFill>
                  <a:srgbClr val="E2583E"/>
                </a:solidFill>
                <a:latin typeface="Calibri"/>
              </a:rPr>
              <a:t>Section 5 · Four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GB" sz="2400" b="1" i="0" noProof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From gap to action: what each strategy does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61872"/>
            <a:ext cx="2057400" cy="361188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1874519" cy="256032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GB" sz="1400" b="1" i="0" noProof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Strategy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27632"/>
            <a:ext cx="1874519" cy="502920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lang="en-GB" sz="13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Connect complementary capabilities commercially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80"/>
            <a:ext cx="1874519" cy="2606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en-GB" sz="1250" b="0" i="0" noProof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Named Creative-Digital Network + mutual CPD programme.
Group B simulation firms meet city-centre creative agencies.
First measurable output: 3 joint commercial relationships.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4872" y="1261872"/>
            <a:ext cx="2057400" cy="361188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Franklin Gothic Medium" panose="020B0603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6312" y="1371600"/>
            <a:ext cx="1874519" cy="256032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GB" sz="1400" b="1" i="0" noProof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Strategy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627632"/>
            <a:ext cx="1874519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en-GB" sz="13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Protect and develop the cultural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240280"/>
            <a:ext cx="1874519" cy="2606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en-GB" sz="1250" b="0" i="0" noProof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Secure Tier 1 institutional anchors and Tier 4 practitioner base.
Formalise Edit/Gray's graduate retention model.
Creative Wellbeing pilot as LOIP preventive health infrastructure.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1144" y="1261872"/>
            <a:ext cx="2057400" cy="3611880"/>
          </a:xfrm>
          <a:prstGeom prst="rect">
            <a:avLst/>
          </a:prstGeom>
          <a:solidFill>
            <a:srgbClr val="2F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2583" y="1371600"/>
            <a:ext cx="1874519" cy="256032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GB" sz="14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Strategy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1627632"/>
            <a:ext cx="1874519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2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Reframe the graduate pipeline as a transition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2240280"/>
            <a:ext cx="1874519" cy="2606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en-GB" sz="1250" b="0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12-month Creative Career Bridge placement programme.
Three visible pathways: creative core growth, energy transition,
and wider Createch (screen, games, immersive, real-time).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7416" y="1261872"/>
            <a:ext cx="2057400" cy="3611880"/>
          </a:xfrm>
          <a:prstGeom prst="rect">
            <a:avLst/>
          </a:prstGeom>
          <a:solidFill>
            <a:srgbClr val="E25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48855" y="1371600"/>
            <a:ext cx="1874519" cy="256032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GB" sz="14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Strategy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5" y="1627632"/>
            <a:ext cx="1874519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en-GB" sz="1300" b="1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Tell a different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5" y="2240280"/>
            <a:ext cx="1874519" cy="2606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en-GB" sz="1250" b="0" i="0" noProof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NES Creative Economy Narrative as formal policy commitment.
Deployed across RES, LOIP, investment prospectuses.
Precondition for all other strategies attracting sustained attention.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en-GB" sz="1127" b="0" i="1" noProof="0" dirty="0">
                <a:solidFill>
                  <a:srgbClr val="6E665C"/>
                </a:solidFill>
                <a:latin typeface="Franklin Gothic Medium" panose="020B0603020102020204" pitchFamily="34" charset="0"/>
              </a:rPr>
              <a:t>Source: The Fifth Sector (2026). See Part Nine for full strategy detail.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208" b="1" i="0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Section 6 · Five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8686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1C6E6A"/>
                </a:solidFill>
                <a:latin typeface="Franklin Gothic Medium" panose="020B0603020102020204" pitchFamily="34" charset="0"/>
              </a:rPr>
              <a:t>Five recommendations – one governance precondition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34440"/>
            <a:ext cx="2560320" cy="3520440"/>
          </a:xfrm>
          <a:prstGeom prst="rect">
            <a:avLst/>
          </a:prstGeom>
          <a:solidFill>
            <a:srgbClr val="EFA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83280" y="1371600"/>
            <a:ext cx="2377440" cy="292608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R2  ★  Precondition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737360"/>
            <a:ext cx="23774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Joint Cultural and Creative
Economy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2395728"/>
            <a:ext cx="2340864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Franklin Gothic Medium" panose="020B0603020102020204" pitchFamily="34" charset="0"/>
              </a:rPr>
              <a:t>Shared budget · dedicated officer resource · formal mandate
Cross-boundary authority for measurement, funding, UKRI bid and advocacy
Cost: £50k–£100k p.a. + 1 FTE
Timescale: 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3822191"/>
            <a:ext cx="2340864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FFFFFF"/>
                </a:solidFill>
                <a:latin typeface="Franklin Gothic Medium" panose="020B0603020102020204" pitchFamily="34" charset="0"/>
              </a:rPr>
              <a:t>Without R2, three of the other four recommendations are not deliverable.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834640" cy="169164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325880"/>
            <a:ext cx="261518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5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R1  </a:t>
            </a:r>
            <a:r>
              <a:rPr lang="en-GB" sz="135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UKRI</a:t>
            </a:r>
            <a:r>
              <a:rPr sz="135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bid</a:t>
            </a:r>
            <a:r>
              <a:rPr lang="en-GB" sz="1350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strategy</a:t>
            </a:r>
            <a:endParaRPr sz="1350" b="1" i="0" dirty="0">
              <a:solidFill>
                <a:srgbClr val="FFFF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709928"/>
            <a:ext cx="2615184" cy="109728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lnSpc>
                <a:spcPct val="105000"/>
              </a:lnSpc>
            </a:pPr>
            <a:r>
              <a:rPr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Joint university + council bid</a:t>
            </a:r>
            <a:r>
              <a:rPr lang="en-GB"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s</a:t>
            </a:r>
            <a:r>
              <a:rPr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to </a:t>
            </a:r>
            <a:r>
              <a:rPr lang="en-GB"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CoSTAR, </a:t>
            </a:r>
            <a:r>
              <a:rPr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UKRI Creative Clusters </a:t>
            </a:r>
            <a:r>
              <a:rPr sz="1150" b="0" i="0" dirty="0" err="1">
                <a:solidFill>
                  <a:srgbClr val="F2EADB"/>
                </a:solidFill>
                <a:latin typeface="Franklin Gothic Medium" panose="020B0603020102020204" pitchFamily="34" charset="0"/>
              </a:rPr>
              <a:t>programme</a:t>
            </a:r>
            <a:r>
              <a:rPr sz="1150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. Frame as NES Createch translation model. Deadline: June 2026.
Cost: within existing university bid resource.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2834640" cy="169164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3154680"/>
            <a:ext cx="2615184" cy="320040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R3  Energy transition 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538728"/>
            <a:ext cx="2615184" cy="10972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NES Creative Economy Narrative · Aberdeen-Dundee Corridor · Creative Career Bridge · market development programme with city-centre agencies.
Cost: £200k–£400k over 3 years. Years 2–4.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2834640" cy="1691640"/>
          </a:xfrm>
          <a:prstGeom prst="rect">
            <a:avLst/>
          </a:prstGeom>
          <a:solidFill>
            <a:srgbClr val="2F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1325880"/>
            <a:ext cx="261518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R4  Creative Structural 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709928"/>
            <a:ext cx="2615184" cy="109728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2EADB"/>
                </a:solidFill>
                <a:latin typeface="Franklin Gothic Medium" panose="020B0603020102020204" pitchFamily="34" charset="0"/>
              </a:rPr>
              <a:t>Multi-year revenue funding to connective sector organisations.
Min 3-year periods + pathway to MYF status.
Cost: £150k–£300k p.a. for 4–6 organisations. Years 1–2.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063240"/>
            <a:ext cx="2834640" cy="1691640"/>
          </a:xfrm>
          <a:prstGeom prst="rect">
            <a:avLst/>
          </a:prstGeom>
          <a:solidFill>
            <a:srgbClr val="6E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4768" y="3154680"/>
            <a:ext cx="261518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R5  Full-spectrum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538728"/>
            <a:ext cx="2615184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Franklin Gothic Medium" panose="020B0603020102020204" pitchFamily="34" charset="0"/>
              </a:rPr>
              <a:t>Shared framework covering all four tiers, updated every 3 years.
NES Culture Data Hub jointly governed by both local authorities.
Cost: £100k for first iteration. Year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sz="1127" b="0" i="1">
                <a:solidFill>
                  <a:srgbClr val="6E665C"/>
                </a:solidFill>
                <a:latin typeface="Franklin Gothic Medium" panose="020B0603020102020204" pitchFamily="34" charset="0"/>
              </a:rPr>
              <a:t>Source: The Fifth Sector (2026). See Part Ten for full recommendation detail.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E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68680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600" b="1" i="0" dirty="0">
                <a:solidFill>
                  <a:srgbClr val="E2583E"/>
                </a:solidFill>
                <a:latin typeface="Franklin Gothic Medium" panose="020B0603020102020204" pitchFamily="34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086600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380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Connecting what</a:t>
            </a:r>
            <a:r>
              <a:rPr lang="en-GB" sz="380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</a:t>
            </a:r>
            <a:r>
              <a:rPr sz="380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already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790038"/>
            <a:ext cx="64008" cy="1828800"/>
          </a:xfrm>
          <a:prstGeom prst="rect">
            <a:avLst/>
          </a:prstGeom>
          <a:solidFill>
            <a:srgbClr val="E25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790038"/>
            <a:ext cx="7863840" cy="1874519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966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The analysis </a:t>
            </a:r>
            <a:r>
              <a:rPr sz="1966" b="1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locates a connection waiting to be made.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966" b="1" dirty="0">
              <a:solidFill>
                <a:srgbClr val="F2EADB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Three parts of the same economy</a:t>
            </a:r>
            <a:r>
              <a:rPr lang="en-GB"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:</a:t>
            </a:r>
            <a:r>
              <a:rPr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 a registered creative-digital core, a dispersed cultural practitioner base, and an adjacent technical capacity</a:t>
            </a:r>
            <a:r>
              <a:rPr lang="en-GB"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 -</a:t>
            </a:r>
            <a:r>
              <a:rPr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 </a:t>
            </a:r>
            <a:r>
              <a:rPr sz="1720" b="0" dirty="0">
                <a:solidFill>
                  <a:srgbClr val="F3EADC"/>
                </a:solidFill>
                <a:latin typeface="Franklin Gothic Medium" panose="020B0603020102020204" pitchFamily="34" charset="0"/>
              </a:rPr>
              <a:t>each hold</a:t>
            </a:r>
            <a:r>
              <a:rPr lang="en-GB" sz="1720" b="0" dirty="0">
                <a:solidFill>
                  <a:srgbClr val="F3EADC"/>
                </a:solidFill>
                <a:latin typeface="Franklin Gothic Medium" panose="020B0603020102020204" pitchFamily="34" charset="0"/>
              </a:rPr>
              <a:t>s </a:t>
            </a:r>
            <a:r>
              <a:rPr sz="1720" b="0" dirty="0">
                <a:solidFill>
                  <a:srgbClr val="F3EADC"/>
                </a:solidFill>
                <a:latin typeface="Franklin Gothic Medium" panose="020B0603020102020204" pitchFamily="34" charset="0"/>
              </a:rPr>
              <a:t>what the others </a:t>
            </a:r>
            <a:r>
              <a:rPr dirty="0">
                <a:solidFill>
                  <a:srgbClr val="F3EADC"/>
                </a:solidFill>
                <a:latin typeface="Franklin Gothic Medium" panose="020B0603020102020204" pitchFamily="34" charset="0"/>
              </a:rPr>
              <a:t>need</a:t>
            </a:r>
            <a:r>
              <a:rPr sz="1720" b="0" dirty="0">
                <a:solidFill>
                  <a:srgbClr val="F3EADC"/>
                </a:solidFill>
                <a:latin typeface="Franklin Gothic Medium" panose="020B0603020102020204" pitchFamily="34" charset="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720" b="0" dirty="0">
              <a:solidFill>
                <a:srgbClr val="CDE3DF"/>
              </a:solidFill>
              <a:latin typeface="Franklin Gothic Medium" panose="020B0603020102020204" pitchFamily="34" charset="0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All three require the </a:t>
            </a:r>
            <a:r>
              <a:rPr sz="1720" b="0" dirty="0">
                <a:solidFill>
                  <a:srgbClr val="F3EADC"/>
                </a:solidFill>
                <a:latin typeface="Franklin Gothic Medium" panose="020B0603020102020204" pitchFamily="34" charset="0"/>
              </a:rPr>
              <a:t>connections, shared language and institutional mechanisms </a:t>
            </a:r>
            <a:r>
              <a:rPr sz="1720" b="0" dirty="0">
                <a:solidFill>
                  <a:srgbClr val="CDE3DF"/>
                </a:solidFill>
                <a:latin typeface="Franklin Gothic Medium" panose="020B0603020102020204" pitchFamily="34" charset="0"/>
              </a:rPr>
              <a:t>to function as a coherent system rather than as three separate economies operating in proximity.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05072"/>
            <a:ext cx="2651760" cy="914400"/>
          </a:xfrm>
          <a:prstGeom prst="rect">
            <a:avLst/>
          </a:prstGeom>
          <a:solidFill>
            <a:srgbClr val="14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050791"/>
            <a:ext cx="2651760" cy="50292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10,490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3712"/>
            <a:ext cx="2651760" cy="329184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20000"/>
              </a:lnSpc>
            </a:pPr>
            <a:r>
              <a:rPr lang="en-GB"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Workforce</a:t>
            </a:r>
            <a:r>
              <a:rPr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identified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4005072"/>
            <a:ext cx="2651760" cy="914400"/>
          </a:xfrm>
          <a:prstGeom prst="rect">
            <a:avLst/>
          </a:prstGeom>
          <a:solidFill>
            <a:srgbClr val="1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6120" y="4050791"/>
            <a:ext cx="2651760" cy="50292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sz="3328" b="1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£675m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553712"/>
            <a:ext cx="2651760" cy="329184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lnSpc>
                <a:spcPct val="120000"/>
              </a:lnSpc>
            </a:pPr>
            <a:r>
              <a:rPr lang="en-GB"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Total</a:t>
            </a:r>
            <a:r>
              <a:rPr sz="1523" b="0" i="0" dirty="0">
                <a:solidFill>
                  <a:srgbClr val="F2EADB"/>
                </a:solidFill>
                <a:latin typeface="Franklin Gothic Medium" panose="020B0603020102020204" pitchFamily="34" charset="0"/>
              </a:rPr>
              <a:t> economic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005072"/>
            <a:ext cx="2651760" cy="914400"/>
          </a:xfrm>
          <a:prstGeom prst="rect">
            <a:avLst/>
          </a:prstGeom>
          <a:solidFill>
            <a:srgbClr val="E25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ranklin Gothic Medium" panose="020B0603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0" y="4050791"/>
            <a:ext cx="2651760" cy="50292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sz="3328" b="1" i="0">
                <a:solidFill>
                  <a:srgbClr val="FFFFFF"/>
                </a:solidFill>
                <a:latin typeface="Franklin Gothic Medium" panose="020B0603020102020204" pitchFamily="34" charset="0"/>
              </a:rPr>
              <a:t>4 + 5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553712"/>
            <a:ext cx="2651760" cy="329184"/>
          </a:xfrm>
          <a:prstGeom prst="rect">
            <a:avLst/>
          </a:prstGeom>
          <a:noFill/>
        </p:spPr>
        <p:txBody>
          <a:bodyPr wrap="square" anchor="t">
            <a:normAutofit fontScale="92500"/>
          </a:bodyPr>
          <a:lstStyle/>
          <a:p>
            <a:pPr algn="ctr">
              <a:lnSpc>
                <a:spcPct val="120000"/>
              </a:lnSpc>
            </a:pPr>
            <a:r>
              <a:rPr lang="en-GB" sz="1523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Strategies</a:t>
            </a:r>
            <a:r>
              <a:rPr sz="1523" b="0" i="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+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2201E"/>
      </a:dk2>
      <a:lt2>
        <a:srgbClr val="FBF7F0"/>
      </a:lt2>
      <a:accent1>
        <a:srgbClr val="1C6E6A"/>
      </a:accent1>
      <a:accent2>
        <a:srgbClr val="E2583E"/>
      </a:accent2>
      <a:accent3>
        <a:srgbClr val="2F8F6B"/>
      </a:accent3>
      <a:accent4>
        <a:srgbClr val="EFA938"/>
      </a:accent4>
      <a:accent5>
        <a:srgbClr val="4E9A95"/>
      </a:accent5>
      <a:accent6>
        <a:srgbClr val="EFA93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FAD203E7449E4E948202DE3E8D2D00" ma:contentTypeVersion="19" ma:contentTypeDescription="Create a new document." ma:contentTypeScope="" ma:versionID="90870b06d34b84b160d4fa99095bee82">
  <xsd:schema xmlns:xsd="http://www.w3.org/2001/XMLSchema" xmlns:xs="http://www.w3.org/2001/XMLSchema" xmlns:p="http://schemas.microsoft.com/office/2006/metadata/properties" xmlns:ns2="4630d520-729b-4a1f-ab5e-a26f6db04bfd" xmlns:ns3="2456b37c-e9cb-46b8-a45c-368ebd31a50f" targetNamespace="http://schemas.microsoft.com/office/2006/metadata/properties" ma:root="true" ma:fieldsID="2f0c41dc8a7ecd70aaa5a7ec6360a880" ns2:_="" ns3:_="">
    <xsd:import namespace="4630d520-729b-4a1f-ab5e-a26f6db04bfd"/>
    <xsd:import namespace="2456b37c-e9cb-46b8-a45c-368ebd31a50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30d520-729b-4a1f-ab5e-a26f6db04bf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3abb3bf-1845-4556-ac0d-ed144516a160}" ma:internalName="TaxCatchAll" ma:showField="CatchAllData" ma:web="4630d520-729b-4a1f-ab5e-a26f6db04b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56b37c-e9cb-46b8-a45c-368ebd31a5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a285046-0b5c-440a-ad17-b6d09e6ce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56b37c-e9cb-46b8-a45c-368ebd31a50f">
      <Terms xmlns="http://schemas.microsoft.com/office/infopath/2007/PartnerControls"/>
    </lcf76f155ced4ddcb4097134ff3c332f>
    <TaxCatchAll xmlns="4630d520-729b-4a1f-ab5e-a26f6db04bfd" xsi:nil="true"/>
  </documentManagement>
</p:properties>
</file>

<file path=customXml/itemProps1.xml><?xml version="1.0" encoding="utf-8"?>
<ds:datastoreItem xmlns:ds="http://schemas.openxmlformats.org/officeDocument/2006/customXml" ds:itemID="{9263FCE9-FEB6-491D-B2D7-4B1F5BA685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FC7C94-4022-4D28-A200-9E77D92F67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30d520-729b-4a1f-ab5e-a26f6db04bfd"/>
    <ds:schemaRef ds:uri="2456b37c-e9cb-46b8-a45c-368ebd31a5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9EFF3-A021-4124-97B2-CB09165153D0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4630d520-729b-4a1f-ab5e-a26f6db04bfd"/>
    <ds:schemaRef ds:uri="2456b37c-e9cb-46b8-a45c-368ebd31a50f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1719</Words>
  <Application>Microsoft Macintosh PowerPoint</Application>
  <PresentationFormat>On-screen Show (16:9)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Iain Bennett</cp:lastModifiedBy>
  <cp:revision>3</cp:revision>
  <dcterms:created xsi:type="dcterms:W3CDTF">2013-01-27T09:14:16Z</dcterms:created>
  <dcterms:modified xsi:type="dcterms:W3CDTF">2026-06-05T15:22:44Z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0x01010046FAD203E7449E4E948202DE3E8D2D00</vt:lpwstr>
  </property>
</Properties>
</file>